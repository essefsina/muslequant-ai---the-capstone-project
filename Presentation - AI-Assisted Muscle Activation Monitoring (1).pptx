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DM Sans" charset="1" panose="00000000000000000000"/>
      <p:regular r:id="rId18"/>
    </p:embeddedFont>
    <p:embeddedFont>
      <p:font typeface="ITC Avant Garde Gothic" charset="1" panose="020B0502020202020204"/>
      <p:regular r:id="rId19"/>
    </p:embeddedFont>
    <p:embeddedFont>
      <p:font typeface="Canva Sans Bold" charset="1" panose="020B0803030501040103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anva.com/design/DAHBO8vWvqw/n3qDCI5POF2T-wSsZoTPZQ/edit?utm_content=DAHBO8vWvqw&amp;utm_campaign=designshare&amp;utm_medium=link2&amp;utm_source=sharebutton" TargetMode="External" Type="http://schemas.openxmlformats.org/officeDocument/2006/relationships/hyperlink"/><Relationship Id="rId3" Target="https://www.canva.com/design/DAHBO8vWvqw/n3qDCI5POF2T-wSsZoTPZQ/edit?utm_content=DAHBO8vWvqw&amp;utm_campaign=designshare&amp;utm_medium=link2&amp;utm_source=sharebutton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6253" y="-1135927"/>
            <a:ext cx="11071639" cy="6626448"/>
            <a:chOff x="0" y="0"/>
            <a:chExt cx="14762185" cy="88352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653347"/>
              <a:ext cx="10646868" cy="5181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1"/>
                </a:lnSpc>
              </a:pPr>
              <a:r>
                <a:rPr lang="en-US" sz="5071" spc="-152">
                  <a:solidFill>
                    <a:srgbClr val="FFFBED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www.canva.com/design/DAHBO8vWvqw/n3qDCI5POF2T-wSsZoTPZQ/edit?utm_content=DAHBO8vWvqw&amp;utm_campaign=designshare&amp;utm_medium=link2&amp;utm_source=sharebutton"/>
                </a:rPr>
                <a:t>MuscleQuant </a:t>
              </a:r>
              <a:r>
                <a:rPr lang="en-US" sz="5071" spc="-152">
                  <a:solidFill>
                    <a:srgbClr val="FFFBED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www.canva.com/design/DAHBO8vWvqw/n3qDCI5POF2T-wSsZoTPZQ/edit?utm_content=DAHBO8vWvqw&amp;utm_campaign=designshare&amp;utm_medium=link2&amp;utm_source=sharebutton"/>
                </a:rPr>
                <a:t>AI : </a:t>
              </a:r>
            </a:p>
            <a:p>
              <a:pPr algn="l" marL="0" indent="0" lvl="0">
                <a:lnSpc>
                  <a:spcPts val="5071"/>
                </a:lnSpc>
              </a:pPr>
            </a:p>
            <a:p>
              <a:pPr algn="l" marL="0" indent="0" lvl="0">
                <a:lnSpc>
                  <a:spcPts val="5071"/>
                </a:lnSpc>
              </a:pPr>
              <a:r>
                <a:rPr lang="en-US" sz="5071" spc="-152">
                  <a:solidFill>
                    <a:srgbClr val="FFFBE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AI- ASSISTED MUSCLE OBSERVATION</a:t>
              </a:r>
            </a:p>
            <a:p>
              <a:pPr algn="l" marL="0" indent="0" lvl="0">
                <a:lnSpc>
                  <a:spcPts val="5071"/>
                </a:lnSpc>
              </a:pPr>
            </a:p>
            <a:p>
              <a:pPr algn="l" marL="0" indent="0" lvl="0">
                <a:lnSpc>
                  <a:spcPts val="5071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14762185" cy="398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253" y="6288291"/>
            <a:ext cx="7052525" cy="51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9"/>
              </a:lnSpc>
              <a:spcBef>
                <a:spcPct val="0"/>
              </a:spcBef>
            </a:pPr>
            <a:r>
              <a:rPr lang="en-US" sz="3042" spc="-91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Delivered to : Professor Ahmed Banafa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1016" y="9124950"/>
            <a:ext cx="6708284" cy="63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3"/>
              </a:lnSpc>
              <a:spcBef>
                <a:spcPct val="0"/>
              </a:spcBef>
            </a:pPr>
            <a:r>
              <a:rPr lang="en-US" sz="3352" spc="-1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Designed</a:t>
            </a:r>
            <a:r>
              <a:rPr lang="en-US" sz="3352" spc="-1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- Keshav harit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15927" y="0"/>
            <a:ext cx="9872073" cy="10287000"/>
          </a:xfrm>
          <a:custGeom>
            <a:avLst/>
            <a:gdLst/>
            <a:ahLst/>
            <a:cxnLst/>
            <a:rect r="r" b="b" t="t" l="l"/>
            <a:pathLst>
              <a:path h="10287000" w="9872073">
                <a:moveTo>
                  <a:pt x="0" y="0"/>
                </a:moveTo>
                <a:lnTo>
                  <a:pt x="9872073" y="0"/>
                </a:lnTo>
                <a:lnTo>
                  <a:pt x="98720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493" t="0" r="-2090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05158" y="9792816"/>
            <a:ext cx="5146795" cy="40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  <a:spcBef>
                <a:spcPct val="0"/>
              </a:spcBef>
            </a:pPr>
            <a:r>
              <a:rPr lang="en-US" sz="2111" spc="-6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DESIGNED</a:t>
            </a:r>
            <a:r>
              <a:rPr lang="en-US" sz="2111" spc="-63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- KESHAV HARIT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9089" y="357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8753" y="252965"/>
            <a:ext cx="1299719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TEAM MEMBERS AND ROLES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94526" y="9850222"/>
            <a:ext cx="5146795" cy="40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  <a:spcBef>
                <a:spcPct val="0"/>
              </a:spcBef>
            </a:pPr>
            <a:r>
              <a:rPr lang="en-US" sz="2111" spc="-63">
                <a:solidFill>
                  <a:srgbClr val="F5F7F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Designed</a:t>
            </a:r>
            <a:r>
              <a:rPr lang="en-US" sz="2111" spc="-63">
                <a:solidFill>
                  <a:srgbClr val="F5F7F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- FAHIM SHAHRIAR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39949" y="357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144500" y="357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8396" y="4018671"/>
            <a:ext cx="3776186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FAHIM SHAHRIAR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3146" y="5220036"/>
            <a:ext cx="3006685" cy="232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ASSEMBLY &amp;</a:t>
            </a:r>
          </a:p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INTEGRATION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PROGRAMMER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QA SPECIALIST</a:t>
            </a:r>
          </a:p>
          <a:p>
            <a:pPr algn="ctr">
              <a:lnSpc>
                <a:spcPts val="26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819176" y="4018670"/>
            <a:ext cx="31563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KESHAV HARIT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4903" y="5321028"/>
            <a:ext cx="3898583" cy="98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PROGRAMMER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OPERATIONS SPECIALIST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38091" y="3918379"/>
            <a:ext cx="26710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GELIN DENG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02208" y="5220036"/>
            <a:ext cx="3404116" cy="98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SPECIALIST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5E41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INTEGRATION SPECIALIST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45918" y="862100"/>
            <a:ext cx="10591968" cy="7957216"/>
          </a:xfrm>
          <a:custGeom>
            <a:avLst/>
            <a:gdLst/>
            <a:ahLst/>
            <a:cxnLst/>
            <a:rect r="r" b="b" t="t" l="l"/>
            <a:pathLst>
              <a:path h="7957216" w="10591968">
                <a:moveTo>
                  <a:pt x="0" y="0"/>
                </a:moveTo>
                <a:lnTo>
                  <a:pt x="10591968" y="0"/>
                </a:lnTo>
                <a:lnTo>
                  <a:pt x="10591968" y="7957216"/>
                </a:lnTo>
                <a:lnTo>
                  <a:pt x="0" y="7957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586" y="1038225"/>
            <a:ext cx="6806972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6"/>
              </a:lnSpc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Frontend dashboard basic UI development</a:t>
            </a:r>
          </a:p>
          <a:p>
            <a:pPr algn="ctr">
              <a:lnSpc>
                <a:spcPts val="3176"/>
              </a:lnSpc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Real-time EMG visualization prototype</a:t>
            </a:r>
          </a:p>
          <a:p>
            <a:pPr algn="ctr">
              <a:lnSpc>
                <a:spcPts val="3176"/>
              </a:lnSpc>
            </a:pPr>
          </a:p>
          <a:p>
            <a:pPr algn="l">
              <a:lnSpc>
                <a:spcPts val="3176"/>
              </a:lnSpc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features : </a:t>
            </a:r>
          </a:p>
          <a:p>
            <a:pPr algn="l" marL="571469" indent="-285734" lvl="1">
              <a:lnSpc>
                <a:spcPts val="3176"/>
              </a:lnSpc>
              <a:buFont typeface="Arial"/>
              <a:buChar char="•"/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Intensity Level — Real-time muscle activation strength classified as Rest, Low, Moderate, or High</a:t>
            </a:r>
          </a:p>
          <a:p>
            <a:pPr algn="l" marL="571469" indent="-285734" lvl="1">
              <a:lnSpc>
                <a:spcPts val="3176"/>
              </a:lnSpc>
              <a:buFont typeface="Arial"/>
              <a:buChar char="•"/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Fatigue Detection — Monitors signal amplitude drop over time to detect muscle fatigue onset</a:t>
            </a:r>
          </a:p>
          <a:p>
            <a:pPr algn="l" marL="571469" indent="-285734" lvl="1">
              <a:lnSpc>
                <a:spcPts val="3176"/>
              </a:lnSpc>
              <a:buFont typeface="Arial"/>
              <a:buChar char="•"/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 Counter — Counts repetitions automatically each time muscle activation crosses the threshold</a:t>
            </a:r>
          </a:p>
          <a:p>
            <a:pPr algn="l" marL="571469" indent="-285734" lvl="1">
              <a:lnSpc>
                <a:spcPts val="3176"/>
              </a:lnSpc>
              <a:buFont typeface="Arial"/>
              <a:buChar char="•"/>
            </a:pPr>
            <a:r>
              <a:rPr lang="en-US" sz="2646" spc="-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Work / Rest Ratio — Tracks total time spent active vs resting and flags imbalance during workout</a:t>
            </a:r>
          </a:p>
          <a:p>
            <a:pPr algn="ctr">
              <a:lnSpc>
                <a:spcPts val="3176"/>
              </a:lnSpc>
            </a:pPr>
          </a:p>
          <a:p>
            <a:pPr algn="ctr">
              <a:lnSpc>
                <a:spcPts val="3176"/>
              </a:lnSpc>
            </a:pPr>
          </a:p>
          <a:p>
            <a:pPr algn="ctr">
              <a:lnSpc>
                <a:spcPts val="3176"/>
              </a:lnSpc>
            </a:pPr>
          </a:p>
          <a:p>
            <a:pPr algn="ctr">
              <a:lnSpc>
                <a:spcPts val="317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2114" y="9258300"/>
            <a:ext cx="791021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17" spc="-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 By keshav harit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0978" y="1284446"/>
            <a:ext cx="13708378" cy="7288288"/>
          </a:xfrm>
          <a:custGeom>
            <a:avLst/>
            <a:gdLst/>
            <a:ahLst/>
            <a:cxnLst/>
            <a:rect r="r" b="b" t="t" l="l"/>
            <a:pathLst>
              <a:path h="7288288" w="13708378">
                <a:moveTo>
                  <a:pt x="0" y="0"/>
                </a:moveTo>
                <a:lnTo>
                  <a:pt x="13708377" y="0"/>
                </a:lnTo>
                <a:lnTo>
                  <a:pt x="13708377" y="7288287"/>
                </a:lnTo>
                <a:lnTo>
                  <a:pt x="0" y="728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595166" y="104775"/>
            <a:ext cx="9900000" cy="73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500" spc="-1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PROGRESS – BACKEND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16517" y="9867236"/>
            <a:ext cx="433211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FAHIM SHAHRIAR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0978" y="8747862"/>
            <a:ext cx="137083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EMG SIGNALS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3740" y="1070429"/>
            <a:ext cx="14022853" cy="7537283"/>
          </a:xfrm>
          <a:custGeom>
            <a:avLst/>
            <a:gdLst/>
            <a:ahLst/>
            <a:cxnLst/>
            <a:rect r="r" b="b" t="t" l="l"/>
            <a:pathLst>
              <a:path h="7537283" w="14022853">
                <a:moveTo>
                  <a:pt x="0" y="0"/>
                </a:moveTo>
                <a:lnTo>
                  <a:pt x="14022853" y="0"/>
                </a:lnTo>
                <a:lnTo>
                  <a:pt x="14022853" y="7537284"/>
                </a:lnTo>
                <a:lnTo>
                  <a:pt x="0" y="7537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595166" y="104775"/>
            <a:ext cx="9900000" cy="73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500" spc="-1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PROGRESS – BACKEND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16517" y="9867236"/>
            <a:ext cx="433211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FAHIM SHAHRIAR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0978" y="8747862"/>
            <a:ext cx="137083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CODE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7286" y="2738909"/>
            <a:ext cx="6625603" cy="4969202"/>
          </a:xfrm>
          <a:custGeom>
            <a:avLst/>
            <a:gdLst/>
            <a:ahLst/>
            <a:cxnLst/>
            <a:rect r="r" b="b" t="t" l="l"/>
            <a:pathLst>
              <a:path h="4969202" w="6625603">
                <a:moveTo>
                  <a:pt x="0" y="0"/>
                </a:moveTo>
                <a:lnTo>
                  <a:pt x="6625603" y="0"/>
                </a:lnTo>
                <a:lnTo>
                  <a:pt x="6625603" y="4969202"/>
                </a:lnTo>
                <a:lnTo>
                  <a:pt x="0" y="496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9790" y="142875"/>
            <a:ext cx="1006842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PROGRESS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3421" y="2888615"/>
            <a:ext cx="4442430" cy="46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b="true" sz="2899" spc="-86">
                <a:solidFill>
                  <a:srgbClr val="FFFBED"/>
                </a:solidFill>
                <a:latin typeface="DM Sans Bold"/>
                <a:ea typeface="DM Sans Bold"/>
                <a:cs typeface="DM Sans Bold"/>
                <a:sym typeface="DM Sans Bold"/>
              </a:rPr>
              <a:t>HARDWARE ACQUISITION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b="true" sz="2899" spc="-86">
                <a:solidFill>
                  <a:srgbClr val="FFFBED"/>
                </a:solidFill>
                <a:latin typeface="DM Sans Bold"/>
                <a:ea typeface="DM Sans Bold"/>
                <a:cs typeface="DM Sans Bold"/>
                <a:sym typeface="DM Sans Bold"/>
              </a:rPr>
              <a:t>DRIVER INSTALLATION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b="true" sz="2899" spc="-86">
                <a:solidFill>
                  <a:srgbClr val="FFFBED"/>
                </a:solidFill>
                <a:latin typeface="DM Sans Bold"/>
                <a:ea typeface="DM Sans Bold"/>
                <a:cs typeface="DM Sans Bold"/>
                <a:sym typeface="DM Sans Bold"/>
              </a:rPr>
              <a:t>PC INTEGRATION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b="true" sz="2899" spc="-86">
                <a:solidFill>
                  <a:srgbClr val="FFFBED"/>
                </a:solidFill>
                <a:latin typeface="DM Sans Bold"/>
                <a:ea typeface="DM Sans Bold"/>
                <a:cs typeface="DM Sans Bold"/>
                <a:sym typeface="DM Sans Bold"/>
              </a:rPr>
              <a:t>SIGNAL TRANSMISSION</a:t>
            </a:r>
          </a:p>
          <a:p>
            <a:pPr algn="l">
              <a:lnSpc>
                <a:spcPts val="4059"/>
              </a:lnSpc>
            </a:pP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5499234" y="257002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443968" y="787956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5188610" y="189738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2193389" y="189738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316517" y="9867236"/>
            <a:ext cx="433211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FAHIM SHAHRIAR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71790" y="3580130"/>
            <a:ext cx="3887510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 spc="-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CODE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 spc="-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 spc="-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EXPORT METHOD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243142"/>
            <a:ext cx="8889987" cy="5800717"/>
          </a:xfrm>
          <a:custGeom>
            <a:avLst/>
            <a:gdLst/>
            <a:ahLst/>
            <a:cxnLst/>
            <a:rect r="r" b="b" t="t" l="l"/>
            <a:pathLst>
              <a:path h="5800717" w="8889987">
                <a:moveTo>
                  <a:pt x="0" y="0"/>
                </a:moveTo>
                <a:lnTo>
                  <a:pt x="8889987" y="0"/>
                </a:lnTo>
                <a:lnTo>
                  <a:pt x="8889987" y="5800716"/>
                </a:lnTo>
                <a:lnTo>
                  <a:pt x="0" y="580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57522" y="288027"/>
            <a:ext cx="937295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FACED 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16517" y="9867236"/>
            <a:ext cx="433211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FAHIM SHAHRIAR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2512" y="2641148"/>
            <a:ext cx="8557856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Drivers automatically deleted (</a:t>
            </a:r>
            <a:r>
              <a:rPr lang="en-US" sz="2719" spc="-81">
                <a:solidFill>
                  <a:srgbClr val="00BF63"/>
                </a:solidFill>
                <a:latin typeface="DM Sans"/>
                <a:ea typeface="DM Sans"/>
                <a:cs typeface="DM Sans"/>
                <a:sym typeface="DM Sans"/>
              </a:rPr>
              <a:t>Solved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Unstable Connection (</a:t>
            </a:r>
            <a:r>
              <a:rPr lang="en-US" sz="2719" spc="-81">
                <a:solidFill>
                  <a:srgbClr val="00BF63"/>
                </a:solidFill>
                <a:latin typeface="DM Sans"/>
                <a:ea typeface="DM Sans"/>
                <a:cs typeface="DM Sans"/>
                <a:sym typeface="DM Sans"/>
              </a:rPr>
              <a:t>Solved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Wireless module not connecting (</a:t>
            </a:r>
            <a:r>
              <a:rPr lang="en-US" sz="2719" spc="-81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In progress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Plotter not giving consistent frequencies (</a:t>
            </a:r>
            <a:r>
              <a:rPr lang="en-US" sz="2719" spc="-81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In progress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Exporting data method (</a:t>
            </a:r>
            <a:r>
              <a:rPr lang="en-US" sz="2719" spc="-81">
                <a:solidFill>
                  <a:srgbClr val="00BF63"/>
                </a:solidFill>
                <a:latin typeface="DM Sans"/>
                <a:ea typeface="DM Sans"/>
                <a:cs typeface="DM Sans"/>
                <a:sym typeface="DM Sans"/>
              </a:rPr>
              <a:t>Solved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9144000" y="2090742"/>
            <a:ext cx="888998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4000" y="8196258"/>
            <a:ext cx="888998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722971" y="1703392"/>
            <a:ext cx="2583656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PREVIOUS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5338" y="6651173"/>
            <a:ext cx="242816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992" y="8196258"/>
            <a:ext cx="8308896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FRONT END - BACKEND INTEGRATION (</a:t>
            </a:r>
            <a:r>
              <a:rPr lang="en-US" sz="2719" spc="-81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In progress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  <a:p>
            <a:pPr algn="l" marL="587075" indent="-293538" lvl="1">
              <a:lnSpc>
                <a:spcPts val="3263"/>
              </a:lnSpc>
              <a:buFont typeface="Arial"/>
              <a:buChar char="•"/>
            </a:pP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 DESIGN (</a:t>
            </a:r>
            <a:r>
              <a:rPr lang="en-US" sz="2719" spc="-81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In Progress</a:t>
            </a:r>
            <a:r>
              <a:rPr lang="en-US" sz="2719" spc="-8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26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7740" y="360471"/>
            <a:ext cx="6692519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WHATS NEXT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56522" y="3372057"/>
            <a:ext cx="12974836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9791" indent="-379895" lvl="1">
              <a:lnSpc>
                <a:spcPts val="4223"/>
              </a:lnSpc>
              <a:buFont typeface="Arial"/>
              <a:buChar char="•"/>
            </a:pPr>
            <a:r>
              <a:rPr lang="en-US" sz="3519" spc="-1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SOLVING ALL THE CURRENT CHALLENGES</a:t>
            </a:r>
          </a:p>
          <a:p>
            <a:pPr algn="just">
              <a:lnSpc>
                <a:spcPts val="4223"/>
              </a:lnSpc>
            </a:pPr>
          </a:p>
          <a:p>
            <a:pPr algn="just" marL="759791" indent="-379895" lvl="1">
              <a:lnSpc>
                <a:spcPts val="4223"/>
              </a:lnSpc>
              <a:buFont typeface="Arial"/>
              <a:buChar char="•"/>
            </a:pPr>
            <a:r>
              <a:rPr lang="en-US" sz="3519" spc="-1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CONTINUE WRITING BACK-END PROGRAM FOR THE FEATURES </a:t>
            </a:r>
          </a:p>
          <a:p>
            <a:pPr algn="just">
              <a:lnSpc>
                <a:spcPts val="4223"/>
              </a:lnSpc>
            </a:pPr>
          </a:p>
          <a:p>
            <a:pPr algn="just" marL="759791" indent="-379895" lvl="1">
              <a:lnSpc>
                <a:spcPts val="4223"/>
              </a:lnSpc>
              <a:buFont typeface="Arial"/>
              <a:buChar char="•"/>
            </a:pPr>
            <a:r>
              <a:rPr lang="en-US" sz="3519" spc="-1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 FRONTEND AND CONNECT TO BACKEND</a:t>
            </a:r>
          </a:p>
          <a:p>
            <a:pPr algn="just">
              <a:lnSpc>
                <a:spcPts val="4223"/>
              </a:lnSpc>
            </a:pPr>
          </a:p>
          <a:p>
            <a:pPr algn="just" marL="759791" indent="-379895" lvl="1">
              <a:lnSpc>
                <a:spcPts val="4223"/>
              </a:lnSpc>
              <a:buFont typeface="Arial"/>
              <a:buChar char="•"/>
            </a:pPr>
            <a:r>
              <a:rPr lang="en-US" sz="3519" spc="-1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 DATABASE </a:t>
            </a:r>
          </a:p>
          <a:p>
            <a:pPr algn="just">
              <a:lnSpc>
                <a:spcPts val="4223"/>
              </a:lnSpc>
            </a:pPr>
          </a:p>
          <a:p>
            <a:pPr algn="just">
              <a:lnSpc>
                <a:spcPts val="4223"/>
              </a:lnSpc>
            </a:pPr>
          </a:p>
          <a:p>
            <a:pPr algn="just">
              <a:lnSpc>
                <a:spcPts val="422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316517" y="9867236"/>
            <a:ext cx="433211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999" spc="-5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FAHIM SHAHRIAR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75589"/>
            <a:ext cx="4979639" cy="5787148"/>
          </a:xfrm>
          <a:custGeom>
            <a:avLst/>
            <a:gdLst/>
            <a:ahLst/>
            <a:cxnLst/>
            <a:rect r="r" b="b" t="t" l="l"/>
            <a:pathLst>
              <a:path h="5787148" w="4979639">
                <a:moveTo>
                  <a:pt x="0" y="0"/>
                </a:moveTo>
                <a:lnTo>
                  <a:pt x="4979639" y="0"/>
                </a:lnTo>
                <a:lnTo>
                  <a:pt x="4979639" y="5787149"/>
                </a:lnTo>
                <a:lnTo>
                  <a:pt x="0" y="578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2652" y="305614"/>
            <a:ext cx="17902697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DATABASE DESIGN (TABLES &amp; PURPOSE)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74278" y="9942196"/>
            <a:ext cx="2913722" cy="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spc="-54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Designed</a:t>
            </a:r>
            <a:r>
              <a:rPr lang="en-US" sz="1800" spc="-54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- GELIN DENG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521" y="7178160"/>
            <a:ext cx="9532753" cy="310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251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One session can contain many raw EMG samples</a:t>
            </a:r>
          </a:p>
          <a:p>
            <a:pPr algn="just">
              <a:lnSpc>
                <a:spcPts val="3522"/>
              </a:lnSpc>
            </a:pPr>
            <a:r>
              <a:rPr lang="en-US" sz="251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One session can generate many processed feature records</a:t>
            </a:r>
          </a:p>
          <a:p>
            <a:pPr algn="just">
              <a:lnSpc>
                <a:spcPts val="3522"/>
              </a:lnSpc>
            </a:pPr>
            <a:r>
              <a:rPr lang="en-US" sz="251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Processed features are computed from raw EMG data</a:t>
            </a:r>
          </a:p>
          <a:p>
            <a:pPr algn="just">
              <a:lnSpc>
                <a:spcPts val="3522"/>
              </a:lnSpc>
            </a:pPr>
          </a:p>
          <a:p>
            <a:pPr algn="just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design separates raw signal storage, session grouping, and feature extraction, ensuring scalability, data integrity, and AI readiness.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56572" y="1424649"/>
            <a:ext cx="7969746" cy="753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Purpose: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Sessions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Represents one recording session or workout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Groups EMG signals into meaningful time segments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Stores metadata such as start time, end time, and label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Myoware_Log (Raw Data)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Stores raw EMG signals directly from the device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Contains timestamp and muscle activation value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Linked to sessions for structured analysis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Preserves original data for integrity and auditing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Processed_Features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Stores extracted features per time window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Examples: RMS, mean amplitude, median frequency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Used for visualization and machine learning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Avoids repeated computation of signal features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4B2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3913372" y="855532"/>
            <a:ext cx="0" cy="10904583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637730" y="7880600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637730" y="256942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2213" y="2569421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43443" y="2724727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212164" y="191118"/>
            <a:ext cx="7064123" cy="64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Project Timeline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688" y="2753302"/>
            <a:ext cx="2450942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219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1 </a:t>
            </a:r>
          </a:p>
          <a:p>
            <a:pPr algn="l">
              <a:lnSpc>
                <a:spcPts val="2663"/>
              </a:lnSpc>
            </a:pPr>
          </a:p>
          <a:p>
            <a:pPr algn="l">
              <a:lnSpc>
                <a:spcPts val="2663"/>
              </a:lnSpc>
            </a:pPr>
            <a:r>
              <a:rPr lang="en-US" sz="2219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2219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roup selection &amp; initial research</a:t>
            </a:r>
          </a:p>
          <a:p>
            <a:pPr algn="l">
              <a:lnSpc>
                <a:spcPts val="2663"/>
              </a:lnSpc>
            </a:pPr>
            <a:r>
              <a:rPr lang="en-US" sz="2219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113980" y="7559592"/>
            <a:ext cx="3272008" cy="331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7"/>
              </a:lnSpc>
              <a:spcBef>
                <a:spcPct val="0"/>
              </a:spcBef>
            </a:pPr>
            <a:r>
              <a:rPr lang="en-US" sz="180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ee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2527"/>
              </a:lnSpc>
              <a:spcBef>
                <a:spcPct val="0"/>
              </a:spcBef>
            </a:pP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Frontend and Back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nd a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cture pla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nn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</a:p>
          <a:p>
            <a:pPr algn="l" marL="0" indent="0" lvl="0">
              <a:lnSpc>
                <a:spcPts val="2527"/>
              </a:lnSpc>
              <a:spcBef>
                <a:spcPct val="0"/>
              </a:spcBef>
            </a:pP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Database schema design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(r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w_samp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es,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processed_feat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res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, pred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ct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s)</a:t>
            </a:r>
          </a:p>
          <a:p>
            <a:pPr algn="l" marL="0" indent="0" lvl="0">
              <a:lnSpc>
                <a:spcPts val="2527"/>
              </a:lnSpc>
              <a:spcBef>
                <a:spcPct val="0"/>
              </a:spcBef>
            </a:pP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C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loud dep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oymen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t plann</a:t>
            </a:r>
            <a:r>
              <a:rPr lang="en-US" sz="180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</a:p>
          <a:p>
            <a:pPr algn="l" marL="0" indent="0" lvl="0">
              <a:lnSpc>
                <a:spcPts val="210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10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10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2502" y="4753552"/>
            <a:ext cx="251951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2136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2 </a:t>
            </a:r>
          </a:p>
          <a:p>
            <a:pPr algn="l">
              <a:lnSpc>
                <a:spcPts val="2563"/>
              </a:lnSpc>
            </a:pPr>
          </a:p>
          <a:p>
            <a:pPr algn="l" marL="0" indent="0" lvl="0">
              <a:lnSpc>
                <a:spcPts val="2563"/>
              </a:lnSpc>
              <a:spcBef>
                <a:spcPct val="0"/>
              </a:spcBef>
            </a:pPr>
            <a:r>
              <a:rPr lang="en-US" sz="2136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Topic Selection and submission of selected topic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62159" y="2715202"/>
            <a:ext cx="3319359" cy="158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1"/>
              </a:lnSpc>
              <a:spcBef>
                <a:spcPct val="0"/>
              </a:spcBef>
            </a:pP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ee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k 7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3181"/>
              </a:lnSpc>
              <a:spcBef>
                <a:spcPct val="0"/>
              </a:spcBef>
            </a:pP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B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ac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ke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itia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set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up</a:t>
            </a:r>
          </a:p>
          <a:p>
            <a:pPr algn="l" marL="0" indent="0" lvl="0">
              <a:lnSpc>
                <a:spcPts val="3181"/>
              </a:lnSpc>
              <a:spcBef>
                <a:spcPct val="0"/>
              </a:spcBef>
            </a:pP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API stru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ctu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d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esig</a:t>
            </a:r>
            <a:r>
              <a:rPr lang="en-US" sz="2272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</a:p>
          <a:p>
            <a:pPr algn="l" marL="0" indent="0" lvl="0">
              <a:lnSpc>
                <a:spcPts val="3181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4985" y="6865791"/>
            <a:ext cx="2324620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17" spc="-63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3 </a:t>
            </a:r>
          </a:p>
          <a:p>
            <a:pPr algn="l">
              <a:lnSpc>
                <a:spcPts val="2541"/>
              </a:lnSpc>
            </a:pPr>
          </a:p>
          <a:p>
            <a:pPr algn="l">
              <a:lnSpc>
                <a:spcPts val="2541"/>
              </a:lnSpc>
            </a:pPr>
            <a:r>
              <a:rPr lang="en-US" sz="2117" spc="-63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Requirement analysis</a:t>
            </a:r>
          </a:p>
          <a:p>
            <a:pPr algn="l">
              <a:lnSpc>
                <a:spcPts val="2541"/>
              </a:lnSpc>
            </a:pPr>
            <a:r>
              <a:rPr lang="en-US" sz="2117" spc="-63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System planning and task distribution</a:t>
            </a:r>
          </a:p>
          <a:p>
            <a:pPr algn="l">
              <a:lnSpc>
                <a:spcPts val="2541"/>
              </a:lnSpc>
            </a:pPr>
          </a:p>
          <a:p>
            <a:pPr algn="l">
              <a:lnSpc>
                <a:spcPts val="2541"/>
              </a:lnSpc>
            </a:pPr>
          </a:p>
          <a:p>
            <a:pPr algn="l">
              <a:lnSpc>
                <a:spcPts val="2541"/>
              </a:lnSpc>
            </a:pPr>
          </a:p>
          <a:p>
            <a:pPr algn="l" marL="0" indent="0" lvl="0">
              <a:lnSpc>
                <a:spcPts val="254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41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094930" y="2559896"/>
            <a:ext cx="3691108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2194" spc="-6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4 </a:t>
            </a:r>
          </a:p>
          <a:p>
            <a:pPr algn="l">
              <a:lnSpc>
                <a:spcPts val="2633"/>
              </a:lnSpc>
            </a:pPr>
          </a:p>
          <a:p>
            <a:pPr algn="l" marL="0" indent="0" lvl="0">
              <a:lnSpc>
                <a:spcPts val="2633"/>
              </a:lnSpc>
              <a:spcBef>
                <a:spcPct val="0"/>
              </a:spcBef>
            </a:pPr>
            <a:r>
              <a:rPr lang="en-US" sz="2194" spc="-6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System Design, </a:t>
            </a:r>
            <a:r>
              <a:rPr lang="en-US" sz="2194" spc="-6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Hardwar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 setup and inspection</a:t>
            </a:r>
          </a:p>
          <a:p>
            <a:pPr algn="l" marL="0" indent="0" lvl="0">
              <a:lnSpc>
                <a:spcPts val="2633"/>
              </a:lnSpc>
              <a:spcBef>
                <a:spcPct val="0"/>
              </a:spcBef>
            </a:pP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sor and wir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less 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odul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co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figura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94" spc="-65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</a:p>
          <a:p>
            <a:pPr algn="l" marL="0" indent="0" lvl="0">
              <a:lnSpc>
                <a:spcPts val="2633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164616" y="5255338"/>
            <a:ext cx="298075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ee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Fro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ntend 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da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hboard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basic UI de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velo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pment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-t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EMG vi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sualiz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atio</a:t>
            </a:r>
            <a:r>
              <a:rPr lang="en-US" sz="210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n prototype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1741" y="7968036"/>
            <a:ext cx="3502267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9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D</a:t>
            </a: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atabase implementation (tables &amp; storage logic)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</a:t>
            </a:r>
            <a:r>
              <a:rPr lang="en-US" sz="210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Backend integration with 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99655" y="4715452"/>
            <a:ext cx="3479136" cy="174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017" spc="-6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5 </a:t>
            </a:r>
          </a:p>
          <a:p>
            <a:pPr algn="ctr">
              <a:lnSpc>
                <a:spcPts val="2824"/>
              </a:lnSpc>
            </a:pPr>
          </a:p>
          <a:p>
            <a:pPr algn="ctr">
              <a:lnSpc>
                <a:spcPts val="2824"/>
              </a:lnSpc>
              <a:spcBef>
                <a:spcPct val="0"/>
              </a:spcBef>
            </a:pPr>
            <a:r>
              <a:rPr lang="en-US" sz="2017" spc="-6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Fix remaining challenges with hardware and design program architecture and frameworks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51447" y="2569421"/>
            <a:ext cx="323850" cy="32385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886343" y="2855171"/>
            <a:ext cx="2836529" cy="332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138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10 </a:t>
            </a:r>
          </a:p>
          <a:p>
            <a:pPr algn="ctr">
              <a:lnSpc>
                <a:spcPts val="2993"/>
              </a:lnSpc>
            </a:pPr>
            <a:r>
              <a:rPr lang="en-US" sz="2138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Cloud </a:t>
            </a:r>
            <a:r>
              <a:rPr lang="en-US" sz="2138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service setup (Firebase / GCP / AWS)</a:t>
            </a:r>
          </a:p>
          <a:p>
            <a:pPr algn="ctr">
              <a:lnSpc>
                <a:spcPts val="2993"/>
              </a:lnSpc>
            </a:pPr>
            <a:r>
              <a:rPr lang="en-US" sz="2138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Backend deployment to cloud</a:t>
            </a:r>
          </a:p>
          <a:p>
            <a:pPr algn="ctr">
              <a:lnSpc>
                <a:spcPts val="2993"/>
              </a:lnSpc>
            </a:pPr>
            <a:r>
              <a:rPr lang="en-US" sz="2138" spc="-64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Connect frontend to backend APIs</a:t>
            </a:r>
          </a:p>
          <a:p>
            <a:pPr algn="ctr">
              <a:lnSpc>
                <a:spcPts val="2993"/>
              </a:lnSpc>
            </a:pPr>
          </a:p>
          <a:p>
            <a:pPr algn="ctr">
              <a:lnSpc>
                <a:spcPts val="2993"/>
              </a:lnSpc>
              <a:spcBef>
                <a:spcPct val="0"/>
              </a:spcBef>
            </a:pPr>
          </a:p>
        </p:txBody>
      </p:sp>
      <p:sp>
        <p:nvSpPr>
          <p:cNvPr name="AutoShape 24" id="24"/>
          <p:cNvSpPr/>
          <p:nvPr/>
        </p:nvSpPr>
        <p:spPr>
          <a:xfrm flipV="true">
            <a:off x="6833663" y="836919"/>
            <a:ext cx="26153" cy="9450081"/>
          </a:xfrm>
          <a:prstGeom prst="line">
            <a:avLst/>
          </a:prstGeom>
          <a:ln cap="flat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2637730" y="5143500"/>
            <a:ext cx="323850" cy="323850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97891" y="5143500"/>
            <a:ext cx="323850" cy="323850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722872" y="7316548"/>
            <a:ext cx="323850" cy="323850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380097" y="2431177"/>
            <a:ext cx="2296358" cy="194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sz="2202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11 </a:t>
            </a:r>
          </a:p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sz="2202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Ba</a:t>
            </a:r>
            <a:r>
              <a:rPr lang="en-US" sz="2202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ckend testing</a:t>
            </a:r>
          </a:p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sz="2202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Database performance testing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4847" y="7208512"/>
            <a:ext cx="3598473" cy="272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228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12 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8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2228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Final integration (Frontend + Backend + DB + Cloud)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8" spc="-66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End-to-end system validation and testing 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4341997" y="5274388"/>
            <a:ext cx="3096310" cy="127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  <a:spcBef>
                <a:spcPct val="0"/>
              </a:spcBef>
            </a:pPr>
            <a:r>
              <a:rPr lang="en-US" sz="1842" spc="-5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Week 13 </a:t>
            </a:r>
          </a:p>
          <a:p>
            <a:pPr algn="ctr">
              <a:lnSpc>
                <a:spcPts val="2578"/>
              </a:lnSpc>
              <a:spcBef>
                <a:spcPct val="0"/>
              </a:spcBef>
            </a:pPr>
            <a:r>
              <a:rPr lang="en-US" sz="1842" spc="-5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• Frontend UI refinement</a:t>
            </a:r>
          </a:p>
          <a:p>
            <a:pPr algn="ctr">
              <a:lnSpc>
                <a:spcPts val="2578"/>
              </a:lnSpc>
              <a:spcBef>
                <a:spcPct val="0"/>
              </a:spcBef>
            </a:pPr>
            <a:r>
              <a:rPr lang="en-US" sz="1842" spc="-5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Cloud deployment testing</a:t>
            </a:r>
          </a:p>
          <a:p>
            <a:pPr algn="ctr">
              <a:lnSpc>
                <a:spcPts val="2578"/>
              </a:lnSpc>
              <a:spcBef>
                <a:spcPct val="0"/>
              </a:spcBef>
            </a:pPr>
            <a:r>
              <a:rPr lang="en-US" sz="1842" spc="-55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 • System integration testing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43741" y="9895107"/>
            <a:ext cx="3060178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Designed</a:t>
            </a:r>
            <a:r>
              <a:rPr lang="en-US" sz="1800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By - Keshav harit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934488" y="1240782"/>
            <a:ext cx="4467568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-78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1: Scope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78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(Weeks 1–3)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813943" y="822965"/>
            <a:ext cx="0" cy="9663783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0705368" y="836919"/>
            <a:ext cx="0" cy="964983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2813943" y="1240782"/>
            <a:ext cx="332422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2: Design (Weeks 4–6)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021741" y="1095317"/>
            <a:ext cx="3502267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3: Development (Weeks 7–10)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662213" y="7880600"/>
            <a:ext cx="323850" cy="323850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51447" y="5147487"/>
            <a:ext cx="323850" cy="323850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113397" y="981075"/>
            <a:ext cx="3212578" cy="203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304" spc="-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Phase 4: Testing &amp; Refinement (Weeks 11–13)</a:t>
            </a:r>
          </a:p>
          <a:p>
            <a:pPr algn="ctr">
              <a:lnSpc>
                <a:spcPts val="3226"/>
              </a:lnSpc>
              <a:spcBef>
                <a:spcPct val="0"/>
              </a:spcBef>
            </a:pPr>
          </a:p>
          <a:p>
            <a:pPr algn="ctr">
              <a:lnSpc>
                <a:spcPts val="32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60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62688" y="432915"/>
            <a:ext cx="576262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7247" y="2020331"/>
            <a:ext cx="17433507" cy="787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[1] R. Merletti and D. Farina, Surface Electromyography: Physiology, Engineering and Applications. Hoboken, NJ, USA: Wiley-IEEE Press, 2016.</a:t>
            </a:r>
          </a:p>
          <a:p>
            <a:pPr algn="l">
              <a:lnSpc>
                <a:spcPts val="3486"/>
              </a:lnSpc>
            </a:pPr>
          </a:p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[2] C. J. De Luca, “The use of surface electromyography in biomechanics,” J. Appl. Biomech., vol. 13, no. 2, pp. 135–163, 1997.</a:t>
            </a:r>
          </a:p>
          <a:p>
            <a:pPr algn="l">
              <a:lnSpc>
                <a:spcPts val="3486"/>
              </a:lnSpc>
            </a:pPr>
          </a:p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[3] A. Phinyomark, P. Phukpattaranont, and C. Limsakul, “Feature reduction and selection for EMG signal classification,” Expert Syst. Appl., vol. 39, no. 8, pp. 7420–7431, 2012.</a:t>
            </a:r>
          </a:p>
          <a:p>
            <a:pPr algn="l">
              <a:lnSpc>
                <a:spcPts val="3486"/>
              </a:lnSpc>
            </a:pPr>
          </a:p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[4] R. H. Chowdhury et al., “Surface electromyography signal processing and classification techniques,” Sensors, vol. 13, no. 9, pp. 12431–12466, 2013.</a:t>
            </a:r>
          </a:p>
          <a:p>
            <a:pPr algn="l">
              <a:lnSpc>
                <a:spcPts val="3486"/>
              </a:lnSpc>
            </a:pPr>
          </a:p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[5] M. A. Oskoei and H. Hu, “Myoelectric control systems—A survey,” Biomed. Signal Process. Control, vol. 2, no. 4, pp. 275–294, 2007.</a:t>
            </a:r>
          </a:p>
          <a:p>
            <a:pPr algn="l">
              <a:lnSpc>
                <a:spcPts val="3486"/>
              </a:lnSpc>
            </a:pPr>
          </a:p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FFFBED"/>
                </a:solidFill>
                <a:latin typeface="DM Sans"/>
                <a:ea typeface="DM Sans"/>
                <a:cs typeface="DM Sans"/>
                <a:sym typeface="DM Sans"/>
              </a:rPr>
              <a:t>[6] I. Goodfellow, Y. Bengio, and A. Courville, Deep Learning. Cambridge, MA, USA: MIT Press, 2016.</a:t>
            </a:r>
          </a:p>
          <a:p>
            <a:pPr algn="l">
              <a:lnSpc>
                <a:spcPts val="348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8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74278" y="9942196"/>
            <a:ext cx="2913722" cy="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54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Designed</a:t>
            </a:r>
            <a:r>
              <a:rPr lang="en-US" sz="1800" spc="-54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By - Keshav harit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AI-Assisted Muscle Activation Monitoring</dc:description>
  <dc:identifier>DAHBO8vWvqw</dc:identifier>
  <dcterms:modified xsi:type="dcterms:W3CDTF">2011-08-01T06:04:30Z</dcterms:modified>
  <cp:revision>1</cp:revision>
  <dc:title>Presentation - AI-Assisted Muscle Activation Monitoring</dc:title>
</cp:coreProperties>
</file>